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370520" y="1769400"/>
            <a:ext cx="9439560" cy="18284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54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01BBD6-B588-4E91-9778-E05195B56740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" descr="Slate-V2-HD-panoPhotoInset.png"/>
          <p:cNvPicPr/>
          <p:nvPr/>
        </p:nvPicPr>
        <p:blipFill>
          <a:blip r:embed="rId3"/>
          <a:stretch/>
        </p:blipFill>
        <p:spPr>
          <a:xfrm>
            <a:off x="1013760" y="547920"/>
            <a:ext cx="10141560" cy="38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3680" y="4565160"/>
            <a:ext cx="10355040" cy="5432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169280" y="695160"/>
            <a:ext cx="9844920" cy="3525480"/>
          </a:xfrm>
          <a:prstGeom prst="rect">
            <a:avLst/>
          </a:prstGeom>
          <a:noFill/>
          <a:ln w="0">
            <a:noFill/>
          </a:ln>
          <a:effectLst>
            <a:outerShdw blurRad="38160" dist="25417" dir="4463340" rotWithShape="0">
              <a:srgbClr val="000000">
                <a:alpha val="36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sto MT"/>
              </a:rPr>
              <a:t>Click icon to add picture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913680" y="5108760"/>
            <a:ext cx="10353240" cy="682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62CF98-1BA0-42DA-B3FF-1A17CE1E4622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3680" y="608400"/>
            <a:ext cx="10353240" cy="3534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3680" y="4295160"/>
            <a:ext cx="10353240" cy="15015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9D836E-C6E2-41DD-9613-B27CDCD10D05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9926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720800" y="3610080"/>
            <a:ext cx="8751960" cy="5324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13680" y="4304520"/>
            <a:ext cx="10353240" cy="14889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97DFC-5CE9-439D-BDB8-99921756BAF8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TextBox 10"/>
          <p:cNvSpPr/>
          <p:nvPr/>
        </p:nvSpPr>
        <p:spPr>
          <a:xfrm>
            <a:off x="990720" y="8848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sto MT"/>
              </a:rPr>
              <a:t>“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12"/>
          <p:cNvSpPr/>
          <p:nvPr/>
        </p:nvSpPr>
        <p:spPr>
          <a:xfrm>
            <a:off x="10504800" y="29282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sto MT"/>
              </a:rPr>
              <a:t>”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3680" y="2126880"/>
            <a:ext cx="10353240" cy="25113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13680" y="4650480"/>
            <a:ext cx="10351800" cy="1140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3D594E-BC3E-4E56-9E31-6C8F739B0988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913680" y="188604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913680" y="2571840"/>
            <a:ext cx="3300480" cy="3219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446720" y="188604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441320" y="2571840"/>
            <a:ext cx="3300480" cy="3219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7966440" y="188604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4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7966440" y="2571840"/>
            <a:ext cx="3300480" cy="3219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dt" idx="16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9"/>
          <p:cNvSpPr>
            <a:spLocks noGrp="1"/>
          </p:cNvSpPr>
          <p:nvPr>
            <p:ph type="ftr" idx="17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10"/>
          <p:cNvSpPr>
            <a:spLocks noGrp="1"/>
          </p:cNvSpPr>
          <p:nvPr>
            <p:ph type="sldNum" idx="18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B56131-DF3D-450D-B460-31E49C6BE11A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" descr="Slate-V2-HD-3colPhotoInset.png"/>
          <p:cNvPicPr/>
          <p:nvPr/>
        </p:nvPicPr>
        <p:blipFill>
          <a:blip r:embed="rId3"/>
          <a:stretch/>
        </p:blipFill>
        <p:spPr>
          <a:xfrm>
            <a:off x="897840" y="1818360"/>
            <a:ext cx="3339720" cy="184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35" descr="Slate-V2-HD-3colPhotoInset.png"/>
          <p:cNvPicPr/>
          <p:nvPr/>
        </p:nvPicPr>
        <p:blipFill>
          <a:blip r:embed="rId3"/>
          <a:stretch/>
        </p:blipFill>
        <p:spPr>
          <a:xfrm>
            <a:off x="4403880" y="1818360"/>
            <a:ext cx="3339720" cy="184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36" descr="Slate-V2-HD-3colPhotoInset.png"/>
          <p:cNvPicPr/>
          <p:nvPr/>
        </p:nvPicPr>
        <p:blipFill>
          <a:blip r:embed="rId3"/>
          <a:stretch/>
        </p:blipFill>
        <p:spPr>
          <a:xfrm>
            <a:off x="7936200" y="1818360"/>
            <a:ext cx="3339720" cy="18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913680" y="390420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1018080" y="1938960"/>
            <a:ext cx="3092040" cy="1602720"/>
          </a:xfrm>
          <a:prstGeom prst="rect">
            <a:avLst/>
          </a:prstGeom>
          <a:noFill/>
          <a:ln w="0">
            <a:noFill/>
          </a:ln>
          <a:effectLst>
            <a:outerShdw blurRad="38160" dist="25417" dir="4463340" rotWithShape="0">
              <a:srgbClr val="000000">
                <a:alpha val="36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sto MT"/>
              </a:rPr>
              <a:t>Click icon to add picture</a:t>
            </a:r>
            <a:endParaRPr lang="en-US" sz="16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913680" y="4480200"/>
            <a:ext cx="3300480" cy="13104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442760" y="390420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545720" y="1938960"/>
            <a:ext cx="3092040" cy="1607760"/>
          </a:xfrm>
          <a:prstGeom prst="rect">
            <a:avLst/>
          </a:prstGeom>
          <a:noFill/>
          <a:ln w="0">
            <a:noFill/>
          </a:ln>
          <a:effectLst>
            <a:outerShdw blurRad="38160" dist="25417" dir="4463340" rotWithShape="0">
              <a:srgbClr val="000000">
                <a:alpha val="36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sto MT"/>
              </a:rPr>
              <a:t>Click icon to add picture</a:t>
            </a:r>
            <a:endParaRPr lang="en-US" sz="16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4441320" y="4480200"/>
            <a:ext cx="3300480" cy="13104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52" name="PlaceHolder 8"/>
          <p:cNvSpPr>
            <a:spLocks noGrp="1"/>
          </p:cNvSpPr>
          <p:nvPr>
            <p:ph type="body"/>
          </p:nvPr>
        </p:nvSpPr>
        <p:spPr>
          <a:xfrm>
            <a:off x="7966800" y="3904200"/>
            <a:ext cx="3300480" cy="5760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body"/>
          </p:nvPr>
        </p:nvSpPr>
        <p:spPr>
          <a:xfrm>
            <a:off x="8075520" y="1934280"/>
            <a:ext cx="3092040" cy="1607040"/>
          </a:xfrm>
          <a:prstGeom prst="rect">
            <a:avLst/>
          </a:prstGeom>
          <a:noFill/>
          <a:ln w="0">
            <a:noFill/>
          </a:ln>
          <a:effectLst>
            <a:outerShdw blurRad="38160" dist="25417" dir="4463340" rotWithShape="0">
              <a:srgbClr val="000000">
                <a:alpha val="36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sto MT"/>
              </a:rPr>
              <a:t>Click icon to add picture</a:t>
            </a:r>
            <a:endParaRPr lang="en-US" sz="16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54" name="PlaceHolder 10"/>
          <p:cNvSpPr>
            <a:spLocks noGrp="1"/>
          </p:cNvSpPr>
          <p:nvPr>
            <p:ph type="body"/>
          </p:nvPr>
        </p:nvSpPr>
        <p:spPr>
          <a:xfrm>
            <a:off x="7966440" y="4480200"/>
            <a:ext cx="3300480" cy="13104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55" name="PlaceHolder 11"/>
          <p:cNvSpPr>
            <a:spLocks noGrp="1"/>
          </p:cNvSpPr>
          <p:nvPr>
            <p:ph type="dt" idx="19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12"/>
          <p:cNvSpPr>
            <a:spLocks noGrp="1"/>
          </p:cNvSpPr>
          <p:nvPr>
            <p:ph type="ftr" idx="20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13"/>
          <p:cNvSpPr>
            <a:spLocks noGrp="1"/>
          </p:cNvSpPr>
          <p:nvPr>
            <p:ph type="sldNum" idx="21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384F13-83FD-4B8E-AC18-086E7EBD6235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913680" y="1732320"/>
            <a:ext cx="1035324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vert="eaVert" lIns="91440" tIns="45720" rIns="91440" bIns="45720" anchor="t">
            <a:no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dt" idx="22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23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sldNum" idx="24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82A184-B9D9-445E-B5F6-AD9227E109F9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983080" y="609480"/>
            <a:ext cx="2284200" cy="5181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913680" y="609480"/>
            <a:ext cx="7916400" cy="5181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vert="eaVert" lIns="91440" tIns="45720" rIns="91440" bIns="45720" anchor="t">
            <a:no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dt" idx="25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26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7" name="PlaceHolder 5"/>
          <p:cNvSpPr>
            <a:spLocks noGrp="1"/>
          </p:cNvSpPr>
          <p:nvPr>
            <p:ph type="sldNum" idx="27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3648CA-BEE2-4346-BA96-1241A04EFBDA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913680" y="1732320"/>
            <a:ext cx="1035324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dt" idx="28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29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sldNum" idx="30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F58AA1-BE70-4750-B80F-38BAC6856EBE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95280" y="1761120"/>
            <a:ext cx="9590040" cy="18284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1295280" y="3589920"/>
            <a:ext cx="9590040" cy="15066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Click to edit Master text styles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1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2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7" name="PlaceHolder 5"/>
          <p:cNvSpPr>
            <a:spLocks noGrp="1"/>
          </p:cNvSpPr>
          <p:nvPr>
            <p:ph type="sldNum" idx="33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09BDC3-3588-40AE-974E-E1797273EA54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913680" y="1732320"/>
            <a:ext cx="506016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202800" y="1732320"/>
            <a:ext cx="506448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dt" idx="34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5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3" name="PlaceHolder 6"/>
          <p:cNvSpPr>
            <a:spLocks noGrp="1"/>
          </p:cNvSpPr>
          <p:nvPr>
            <p:ph type="sldNum" idx="36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3A027B-D537-4375-BD5C-AB2D510C91C8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9" descr="Slate-V2-HD-compPhotoInset.png"/>
          <p:cNvPicPr/>
          <p:nvPr/>
        </p:nvPicPr>
        <p:blipFill>
          <a:blip r:embed="rId3"/>
          <a:stretch/>
        </p:blipFill>
        <p:spPr>
          <a:xfrm>
            <a:off x="913680" y="1734480"/>
            <a:ext cx="5088600" cy="41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20" descr="Slate-V2-HD-compPhotoInset.png"/>
          <p:cNvPicPr/>
          <p:nvPr/>
        </p:nvPicPr>
        <p:blipFill>
          <a:blip r:embed="rId3"/>
          <a:stretch/>
        </p:blipFill>
        <p:spPr>
          <a:xfrm>
            <a:off x="6178320" y="1734480"/>
            <a:ext cx="5088600" cy="41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1005840" y="1835280"/>
            <a:ext cx="4875840" cy="5446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1005840" y="2379960"/>
            <a:ext cx="4875840" cy="34106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294960" y="1835280"/>
            <a:ext cx="4894920" cy="5446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294960" y="2379960"/>
            <a:ext cx="4894920" cy="34106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91" name="PlaceHolder 6"/>
          <p:cNvSpPr>
            <a:spLocks noGrp="1"/>
          </p:cNvSpPr>
          <p:nvPr>
            <p:ph type="dt" idx="37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ftr" idx="38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3" name="PlaceHolder 8"/>
          <p:cNvSpPr>
            <a:spLocks noGrp="1"/>
          </p:cNvSpPr>
          <p:nvPr>
            <p:ph type="sldNum" idx="39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78F07E-7BAB-48D8-BA0D-2E5B6F860275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dt" idx="40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ftr" idx="41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sldNum" idx="42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7C1E0-1C35-4071-B8B9-203A510F58FC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dt" idx="43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44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1" name="PlaceHolder 3"/>
          <p:cNvSpPr>
            <a:spLocks noGrp="1"/>
          </p:cNvSpPr>
          <p:nvPr>
            <p:ph type="sldNum" idx="45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60EAE7-BBDC-4976-8445-1F6BA86F4D69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3706560" cy="18216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855680" y="609480"/>
            <a:ext cx="6411600" cy="51811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  <a:p>
            <a:pPr marL="720000" lvl="1" indent="-270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8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Second level</a:t>
            </a:r>
          </a:p>
          <a:p>
            <a:pPr marL="1026000" lvl="2" indent="-21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Third level</a:t>
            </a:r>
          </a:p>
          <a:p>
            <a:pPr marL="1386000" lvl="3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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Fourth level</a:t>
            </a:r>
          </a:p>
          <a:p>
            <a:pPr marL="1674000" lvl="4" indent="-21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Fifth level</a:t>
            </a: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913680" y="2431440"/>
            <a:ext cx="3706560" cy="33591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105" name="PlaceHolder 4"/>
          <p:cNvSpPr>
            <a:spLocks noGrp="1"/>
          </p:cNvSpPr>
          <p:nvPr>
            <p:ph type="dt" idx="46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47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7" name="PlaceHolder 6"/>
          <p:cNvSpPr>
            <a:spLocks noGrp="1"/>
          </p:cNvSpPr>
          <p:nvPr>
            <p:ph type="sldNum" idx="48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0953AC-030B-450A-AA7F-1D7D48E8960B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21" descr="Slate-V2-HD-vertPhotoInset.png"/>
          <p:cNvPicPr/>
          <p:nvPr/>
        </p:nvPicPr>
        <p:blipFill>
          <a:blip r:embed="rId3"/>
          <a:stretch/>
        </p:blipFill>
        <p:spPr>
          <a:xfrm>
            <a:off x="7293600" y="609480"/>
            <a:ext cx="3583800" cy="52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13680" y="609840"/>
            <a:ext cx="5934600" cy="18288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442640" y="763560"/>
            <a:ext cx="3275280" cy="4912560"/>
          </a:xfrm>
          <a:prstGeom prst="rect">
            <a:avLst/>
          </a:prstGeom>
          <a:noFill/>
          <a:ln w="0">
            <a:noFill/>
          </a:ln>
          <a:effectLst>
            <a:outerShdw blurRad="38160" dist="25417" dir="4463340" rotWithShape="0">
              <a:srgbClr val="000000">
                <a:alpha val="36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sto MT"/>
              </a:rPr>
              <a:t>Click icon to add picture</a:t>
            </a:r>
            <a:endParaRPr lang="en-US" sz="16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913680" y="2439360"/>
            <a:ext cx="5934600" cy="33757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Click to edit Master text styles</a:t>
            </a:r>
          </a:p>
        </p:txBody>
      </p:sp>
      <p:sp>
        <p:nvSpPr>
          <p:cNvPr id="112" name="PlaceHolder 4"/>
          <p:cNvSpPr>
            <a:spLocks noGrp="1"/>
          </p:cNvSpPr>
          <p:nvPr>
            <p:ph type="dt" idx="49"/>
          </p:nvPr>
        </p:nvSpPr>
        <p:spPr>
          <a:xfrm>
            <a:off x="767880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50"/>
          </p:nvPr>
        </p:nvSpPr>
        <p:spPr>
          <a:xfrm>
            <a:off x="913680" y="5883120"/>
            <a:ext cx="6672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4" name="PlaceHolder 6"/>
          <p:cNvSpPr>
            <a:spLocks noGrp="1"/>
          </p:cNvSpPr>
          <p:nvPr>
            <p:ph type="sldNum" idx="51"/>
          </p:nvPr>
        </p:nvSpPr>
        <p:spPr>
          <a:xfrm>
            <a:off x="10514160" y="5883120"/>
            <a:ext cx="753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BE8A14-C902-4B04-899B-720798F92ACF}" type="slidenum">
              <a:rPr lang="en-US" sz="10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Calisto MT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370520" y="1769400"/>
            <a:ext cx="9439560" cy="182844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b">
            <a:normAutofit fontScale="92500" lnSpcReduction="9999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Testarea unei aplicații Python pentru gestionarea studenților</a:t>
            </a:r>
            <a:endParaRPr lang="en-US" sz="54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3755880" y="3996360"/>
            <a:ext cx="7746840" cy="13881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ln>
                  <a:solidFill>
                    <a:schemeClr val="dk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ffectLst/>
                <a:uFillTx/>
                <a:latin typeface="Calisto MT"/>
              </a:rPr>
              <a:t>Proiect realizat de Ecobescu George-Marius si Petre Mihai-Cristian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Descrierea aplicatiei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13680" y="1732320"/>
            <a:ext cx="1035324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Aplicația este una de tip consolă pentru gestionarea unei evidențe de studenți și note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Operații disponibile</a:t>
            </a: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: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afișare listă studenți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adăugare student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ștergere student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adăugare note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generare raport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filtrare după interval de medii</a:t>
            </a: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</a:pP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  <p:pic>
        <p:nvPicPr>
          <p:cNvPr id="119" name="Picture 4"/>
          <p:cNvPicPr/>
          <p:nvPr/>
        </p:nvPicPr>
        <p:blipFill>
          <a:blip r:embed="rId2"/>
          <a:stretch/>
        </p:blipFill>
        <p:spPr>
          <a:xfrm>
            <a:off x="5628240" y="3160800"/>
            <a:ext cx="3943440" cy="1657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Tehnologii utilizate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913680" y="1732320"/>
            <a:ext cx="10353240" cy="405828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Limbaje și tehnologii</a:t>
            </a:r>
            <a:r>
              <a:rPr lang="ro-RO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: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Python 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SQLite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ro-RO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Framework-uri și tool-uri de testare: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ro-RO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pytest – framework pentru testare unitară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ro-RO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pytest-cov – masurarea code coverage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ro-RO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mutmut – mutation testing</a:t>
            </a: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Avantaje</a:t>
            </a:r>
            <a:r>
              <a:rPr lang="ro-RO" sz="2000" b="1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 : </a:t>
            </a: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tool-uri open-source</a:t>
            </a:r>
            <a:r>
              <a:rPr lang="ro-RO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, </a:t>
            </a: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configurare simplă</a:t>
            </a:r>
            <a:r>
              <a:rPr lang="ro-RO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, </a:t>
            </a: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integrare bună cu Python </a:t>
            </a:r>
          </a:p>
          <a:p>
            <a:pPr marL="37080"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ro-RO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Funcții testate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pic>
        <p:nvPicPr>
          <p:cNvPr id="123" name="Picture 3" descr="A screen shot of a computer program&#10;&#10;AI-generated content may be incorrect."/>
          <p:cNvPicPr/>
          <p:nvPr/>
        </p:nvPicPr>
        <p:blipFill>
          <a:blip r:embed="rId2"/>
          <a:stretch/>
        </p:blipFill>
        <p:spPr>
          <a:xfrm>
            <a:off x="432720" y="1580040"/>
            <a:ext cx="6191640" cy="493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5"/>
          <p:cNvPicPr/>
          <p:nvPr/>
        </p:nvPicPr>
        <p:blipFill>
          <a:blip r:embed="rId3"/>
          <a:stretch/>
        </p:blipFill>
        <p:spPr>
          <a:xfrm>
            <a:off x="4892760" y="2788920"/>
            <a:ext cx="6600600" cy="2466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/>
          </p:nvPr>
        </p:nvSpPr>
        <p:spPr>
          <a:xfrm>
            <a:off x="919080" y="167040"/>
            <a:ext cx="10353240" cy="62823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rm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it-IT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Parti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ț</a:t>
            </a:r>
            <a:r>
              <a:rPr lang="it-IT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ionare 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î</a:t>
            </a:r>
            <a:r>
              <a:rPr lang="it-IT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n clase de echivalen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ță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080"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ui.menu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: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clase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valide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: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valorile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corespunz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toare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op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iunilor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existente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(0–6)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clas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invalid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: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orice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alt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valoare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080"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ui.filter_students: 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clas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valid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: intervale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corecte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(0 ≤ min ≤ m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ax 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≤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10)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clase invalide: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valori 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î</a:t>
            </a: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n afara intervalului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, </a:t>
            </a: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min &gt; max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Analiza </a:t>
            </a: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valorilor</a:t>
            </a:r>
            <a:r>
              <a:rPr lang="en-US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frontier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testarea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valorilor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la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limita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domeniului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intrare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verificarea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comportamentului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imediat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sub limit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ă, 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exact la limit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ă,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peste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limit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  <a:tabLst>
                <a:tab pos="0" algn="l"/>
              </a:tabLst>
            </a:pPr>
            <a:r>
              <a:rPr lang="it-IT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Scop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identificarea erorilor la intrari invalide 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validarea comportamentului corect la limite 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reducerea cazurilor neacoperite din logica aplicatiei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080"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080"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919080" y="1238760"/>
            <a:ext cx="10353240" cy="46209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Acoperirea</a:t>
            </a:r>
            <a:r>
              <a:rPr lang="en-US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codului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 2" charset="2"/>
              <a:buChar char=""/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Tipuri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acoperire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Statement coverage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: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toate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instrucțiunile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sunt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executate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cel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puțin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o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dată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Decision coverage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: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fiecare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ramură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a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deciziilor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este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testată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(True / False)</a:t>
            </a: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Condition coverage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: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fiecare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condiție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logică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este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evaluată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separat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Scop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acoperirea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completă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a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logicii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din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ui.menu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și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ui.filter_students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</a:pP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919080" y="1238760"/>
            <a:ext cx="10353240" cy="462096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t">
            <a:noAutofit/>
          </a:bodyPr>
          <a:lstStyle/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Testare</a:t>
            </a:r>
            <a:r>
              <a:rPr lang="en-US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pe </a:t>
            </a: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baz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</a:t>
            </a: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mutan</a:t>
            </a: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ț</a:t>
            </a:r>
            <a:r>
              <a:rPr lang="en-US" sz="2000" b="1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9980" indent="-3429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Fol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o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sim un generator de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mutan</a:t>
            </a:r>
            <a:r>
              <a:rPr lang="ro-RO" sz="2000" dirty="0">
                <a:solidFill>
                  <a:schemeClr val="lt2"/>
                </a:solidFill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(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mutmut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) pe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func</a:t>
            </a:r>
            <a:r>
              <a:rPr lang="ro-RO" sz="2000" dirty="0">
                <a:solidFill>
                  <a:schemeClr val="lt2"/>
                </a:solidFill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iile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testate</a:t>
            </a:r>
          </a:p>
          <a:p>
            <a:pPr marL="379980" indent="-3429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Test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m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fiecare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mutant cu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suita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teste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dezvoltat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79980" indent="-3429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Observ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m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mutan</a:t>
            </a:r>
            <a:r>
              <a:rPr lang="ro-RO" sz="2000" dirty="0">
                <a:solidFill>
                  <a:schemeClr val="lt2"/>
                </a:solidFill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nu sunt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elimina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Wingdings" charset="2"/>
              <a:buChar char=""/>
            </a:pPr>
            <a:r>
              <a:rPr lang="ro-RO" sz="2000" b="1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Scop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marL="343080" indent="-30600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DADADA"/>
              </a:buClr>
              <a:buSzPct val="70000"/>
              <a:buFont typeface="Arial"/>
              <a:buChar char="•"/>
            </a:pP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Imbun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ro-RO" sz="2000" dirty="0">
                <a:solidFill>
                  <a:schemeClr val="lt2"/>
                </a:solidFill>
                <a:latin typeface="Calisto MT"/>
              </a:rPr>
              <a:t>ț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irea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testelor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prin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g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sirea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unor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cazuri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neacoperite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de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suita</a:t>
            </a:r>
            <a:r>
              <a:rPr lang="en-US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 </a:t>
            </a:r>
            <a:r>
              <a:rPr lang="en-US" sz="2000" b="0" u="none" strike="noStrike" dirty="0" err="1">
                <a:solidFill>
                  <a:schemeClr val="lt2"/>
                </a:solidFill>
                <a:effectLst/>
                <a:uFillTx/>
                <a:latin typeface="Calisto MT"/>
              </a:rPr>
              <a:t>prezent</a:t>
            </a:r>
            <a:r>
              <a:rPr lang="ro-RO" sz="2000" b="0" u="none" strike="noStrike" dirty="0">
                <a:solidFill>
                  <a:schemeClr val="lt2"/>
                </a:solidFill>
                <a:effectLst/>
                <a:uFillTx/>
                <a:latin typeface="Calisto MT"/>
              </a:rPr>
              <a:t>ă</a:t>
            </a: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</a:pPr>
            <a:endParaRPr lang="en-US" sz="2000" b="0" u="none" strike="noStrike" dirty="0">
              <a:solidFill>
                <a:schemeClr val="lt2"/>
              </a:solidFill>
              <a:effectLst/>
              <a:uFillTx/>
              <a:latin typeface="Calisto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3680" y="609480"/>
            <a:ext cx="10353240" cy="97020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Concluzii</a:t>
            </a:r>
            <a:endParaRPr lang="en-US" sz="4000" b="0" u="none" strike="noStrik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3680" y="1710000"/>
            <a:ext cx="10353240" cy="4102920"/>
          </a:xfrm>
          <a:prstGeom prst="rect">
            <a:avLst/>
          </a:prstGeom>
          <a:noFill/>
          <a:ln w="0">
            <a:noFill/>
          </a:ln>
          <a:effectLst>
            <a:outerShdw blurRad="25560" rotWithShape="0">
              <a:srgbClr val="000000">
                <a:alpha val="46000"/>
              </a:srgbClr>
            </a:outerShdw>
          </a:effectLst>
        </p:spPr>
        <p:txBody>
          <a:bodyPr lIns="91440" tIns="45720" rIns="91440" bIns="45720" numCol="1" spcCol="0" anchor="ctr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DADADA"/>
              </a:buClr>
              <a:buFont typeface="Wingdings" charset="2"/>
              <a:buChar char="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Am aplicat mai multe tehnici de testare unitară pentru a verifica corectitudinea aplicației (echivalență, valori de frontieră, acoperire și mutation testing) </a:t>
            </a:r>
          </a:p>
          <a:p>
            <a:pPr marL="343080" indent="-343080" defTabSz="914400">
              <a:lnSpc>
                <a:spcPct val="150000"/>
              </a:lnSpc>
              <a:buClr>
                <a:srgbClr val="DADADA"/>
              </a:buClr>
              <a:buFont typeface="Wingdings" charset="2"/>
              <a:buChar char="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Testele au acoperit atât cazuri normale, cât și cazuri limită și erori </a:t>
            </a:r>
          </a:p>
          <a:p>
            <a:pPr marL="343080" indent="-343080" defTabSz="914400">
              <a:lnSpc>
                <a:spcPct val="150000"/>
              </a:lnSpc>
              <a:buClr>
                <a:srgbClr val="DADADA"/>
              </a:buClr>
              <a:buFont typeface="Wingdings" charset="2"/>
              <a:buChar char="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Instrumentele precum pytest, pytest-cov și mutmut au ajutat la automatizarea și evaluarea calității testelor </a:t>
            </a:r>
          </a:p>
          <a:p>
            <a:pPr marL="343080" indent="-343080" defTabSz="914400">
              <a:lnSpc>
                <a:spcPct val="150000"/>
              </a:lnSpc>
              <a:buClr>
                <a:srgbClr val="DADADA"/>
              </a:buClr>
              <a:buFont typeface="Wingdings" charset="2"/>
              <a:buChar char="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Acoperirea codului a fost ridicată, asigurând verificarea completă a logicii din ui.menu() și ui.filter_students() </a:t>
            </a:r>
          </a:p>
          <a:p>
            <a:pPr marL="343080" indent="-343080" defTabSz="914400">
              <a:lnSpc>
                <a:spcPct val="150000"/>
              </a:lnSpc>
              <a:buClr>
                <a:srgbClr val="DADADA"/>
              </a:buClr>
              <a:buFont typeface="Wingdings" charset="2"/>
              <a:buChar char=""/>
            </a:pPr>
            <a:r>
              <a:rPr lang="en-US" sz="2000" b="0" u="none" strike="noStrike">
                <a:solidFill>
                  <a:schemeClr val="lt2"/>
                </a:solidFill>
                <a:effectLst/>
                <a:uFillTx/>
                <a:latin typeface="Calisto MT"/>
              </a:rPr>
              <a:t>Per total, proiectul a dus la o mai bună înțelegere a tehnicilor de testare și a importanței acoperirii codului.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130</TotalTime>
  <Words>427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Calisto MT</vt:lpstr>
      <vt:lpstr>Symbol</vt:lpstr>
      <vt:lpstr>Times New Roman</vt:lpstr>
      <vt:lpstr>Wingdings</vt:lpstr>
      <vt:lpstr>Wingdings 2</vt:lpstr>
      <vt:lpstr>Slate</vt:lpstr>
      <vt:lpstr>Testarea unei aplicații Python pentru gestionarea studenților</vt:lpstr>
      <vt:lpstr>Descrierea aplicatiei</vt:lpstr>
      <vt:lpstr>Tehnologii utilizate</vt:lpstr>
      <vt:lpstr>Funcții testate</vt:lpstr>
      <vt:lpstr>PowerPoint Presentation</vt:lpstr>
      <vt:lpstr>PowerPoint Presentation</vt:lpstr>
      <vt:lpstr>PowerPoint Presentation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GEORGE-MARIUS ECOBESCU</dc:creator>
  <dc:description/>
  <cp:lastModifiedBy>GEORGE-MARIUS ECOBESCU</cp:lastModifiedBy>
  <cp:revision>11</cp:revision>
  <dcterms:created xsi:type="dcterms:W3CDTF">2026-05-15T18:31:41Z</dcterms:created>
  <dcterms:modified xsi:type="dcterms:W3CDTF">2026-05-16T19:20:03Z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