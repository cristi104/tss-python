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4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5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370520" y="1769400"/>
            <a:ext cx="9439560" cy="18284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54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01BBD6-B588-4E91-9778-E05195B56740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the outline text format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Outline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Outline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Outline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Outline Level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Sixth Outline Level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Seventh Outline Level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noramic Pictur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5" descr="Slate-V2-HD-panoPhotoInset.png"/>
          <p:cNvPicPr/>
          <p:nvPr/>
        </p:nvPicPr>
        <p:blipFill>
          <a:blip r:embed="rId3"/>
          <a:stretch/>
        </p:blipFill>
        <p:spPr>
          <a:xfrm>
            <a:off x="1013760" y="547920"/>
            <a:ext cx="10141560" cy="381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913680" y="4565160"/>
            <a:ext cx="10355040" cy="5432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2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169280" y="695160"/>
            <a:ext cx="9844920" cy="3525480"/>
          </a:xfrm>
          <a:prstGeom prst="rect">
            <a:avLst/>
          </a:prstGeom>
          <a:noFill/>
          <a:ln w="0">
            <a:noFill/>
          </a:ln>
          <a:effectLst>
            <a:outerShdw dist="25417" dir="4463340" blurRad="38160" rotWithShape="0">
              <a:srgbClr val="000000">
                <a:alpha val="36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sto MT"/>
              </a:rPr>
              <a:t>Click icon to add picture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913680" y="5108760"/>
            <a:ext cx="10353240" cy="682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62CF98-1BA0-42DA-B3FF-1A17CE1E4622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3680" y="608400"/>
            <a:ext cx="10353240" cy="3534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913680" y="4295160"/>
            <a:ext cx="10353240" cy="15015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9D836E-C6E2-41DD-9613-B27CDCD10D05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446120" y="609480"/>
            <a:ext cx="9302400" cy="29926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720800" y="3610080"/>
            <a:ext cx="8751960" cy="5324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913680" y="4304520"/>
            <a:ext cx="10353240" cy="14889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dt" idx="10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ftr" idx="11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sldNum" idx="12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997DFC-5CE9-439D-BDB8-99921756BAF8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TextBox 10"/>
          <p:cNvSpPr/>
          <p:nvPr/>
        </p:nvSpPr>
        <p:spPr>
          <a:xfrm>
            <a:off x="990720" y="88488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effectLst/>
                <a:uFillTx/>
                <a:latin typeface="Calisto MT"/>
              </a:rPr>
              <a:t>“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12"/>
          <p:cNvSpPr/>
          <p:nvPr/>
        </p:nvSpPr>
        <p:spPr>
          <a:xfrm>
            <a:off x="10504800" y="292824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effectLst/>
                <a:uFillTx/>
                <a:latin typeface="Calisto MT"/>
              </a:rPr>
              <a:t>”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13680" y="2126880"/>
            <a:ext cx="10353240" cy="25113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913680" y="4650480"/>
            <a:ext cx="10351800" cy="1140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3D594E-BC3E-4E56-9E31-6C8F739B0988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Colum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913680" y="1886040"/>
            <a:ext cx="3300480" cy="5760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4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913680" y="2571840"/>
            <a:ext cx="3300480" cy="3219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446720" y="1886040"/>
            <a:ext cx="3300480" cy="5760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4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441320" y="2571840"/>
            <a:ext cx="3300480" cy="3219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body"/>
          </p:nvPr>
        </p:nvSpPr>
        <p:spPr>
          <a:xfrm>
            <a:off x="7966440" y="1886040"/>
            <a:ext cx="3300480" cy="5760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4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body"/>
          </p:nvPr>
        </p:nvSpPr>
        <p:spPr>
          <a:xfrm>
            <a:off x="7966440" y="2571840"/>
            <a:ext cx="3300480" cy="3219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dt" idx="16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9"/>
          <p:cNvSpPr>
            <a:spLocks noGrp="1"/>
          </p:cNvSpPr>
          <p:nvPr>
            <p:ph type="ftr" idx="17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10"/>
          <p:cNvSpPr>
            <a:spLocks noGrp="1"/>
          </p:cNvSpPr>
          <p:nvPr>
            <p:ph type="sldNum" idx="18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B56131-DF3D-450D-B460-31E49C6BE11A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Picture Colum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1" descr="Slate-V2-HD-3colPhotoInset.png"/>
          <p:cNvPicPr/>
          <p:nvPr/>
        </p:nvPicPr>
        <p:blipFill>
          <a:blip r:embed="rId3"/>
          <a:stretch/>
        </p:blipFill>
        <p:spPr>
          <a:xfrm>
            <a:off x="897840" y="1818360"/>
            <a:ext cx="3339720" cy="184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Picture 35" descr="Slate-V2-HD-3colPhotoInset.png"/>
          <p:cNvPicPr/>
          <p:nvPr/>
        </p:nvPicPr>
        <p:blipFill>
          <a:blip r:embed="rId4"/>
          <a:stretch/>
        </p:blipFill>
        <p:spPr>
          <a:xfrm>
            <a:off x="4403880" y="1818360"/>
            <a:ext cx="3339720" cy="184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Picture 36" descr="Slate-V2-HD-3colPhotoInset.png"/>
          <p:cNvPicPr/>
          <p:nvPr/>
        </p:nvPicPr>
        <p:blipFill>
          <a:blip r:embed="rId5"/>
          <a:stretch/>
        </p:blipFill>
        <p:spPr>
          <a:xfrm>
            <a:off x="7936200" y="1818360"/>
            <a:ext cx="3339720" cy="184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913680" y="3904200"/>
            <a:ext cx="3300480" cy="5760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1018080" y="1938960"/>
            <a:ext cx="3092040" cy="1602720"/>
          </a:xfrm>
          <a:prstGeom prst="rect">
            <a:avLst/>
          </a:prstGeom>
          <a:noFill/>
          <a:ln w="0">
            <a:noFill/>
          </a:ln>
          <a:effectLst>
            <a:outerShdw dist="25417" dir="4463340" blurRad="38160" rotWithShape="0">
              <a:srgbClr val="000000">
                <a:alpha val="36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sto MT"/>
              </a:rPr>
              <a:t>Click icon to add picture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913680" y="4480200"/>
            <a:ext cx="3300480" cy="13104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442760" y="3904200"/>
            <a:ext cx="3300480" cy="5760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body"/>
          </p:nvPr>
        </p:nvSpPr>
        <p:spPr>
          <a:xfrm>
            <a:off x="4545720" y="1938960"/>
            <a:ext cx="3092040" cy="1607760"/>
          </a:xfrm>
          <a:prstGeom prst="rect">
            <a:avLst/>
          </a:prstGeom>
          <a:noFill/>
          <a:ln w="0">
            <a:noFill/>
          </a:ln>
          <a:effectLst>
            <a:outerShdw dist="25417" dir="4463340" blurRad="38160" rotWithShape="0">
              <a:srgbClr val="000000">
                <a:alpha val="36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sto MT"/>
              </a:rPr>
              <a:t>Click icon to add picture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 type="body"/>
          </p:nvPr>
        </p:nvSpPr>
        <p:spPr>
          <a:xfrm>
            <a:off x="4441320" y="4480200"/>
            <a:ext cx="3300480" cy="13104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52" name="PlaceHolder 8"/>
          <p:cNvSpPr>
            <a:spLocks noGrp="1"/>
          </p:cNvSpPr>
          <p:nvPr>
            <p:ph type="body"/>
          </p:nvPr>
        </p:nvSpPr>
        <p:spPr>
          <a:xfrm>
            <a:off x="7966800" y="3904200"/>
            <a:ext cx="3300480" cy="5760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53" name="PlaceHolder 9"/>
          <p:cNvSpPr>
            <a:spLocks noGrp="1"/>
          </p:cNvSpPr>
          <p:nvPr>
            <p:ph type="body"/>
          </p:nvPr>
        </p:nvSpPr>
        <p:spPr>
          <a:xfrm>
            <a:off x="8075520" y="1934280"/>
            <a:ext cx="3092040" cy="1607040"/>
          </a:xfrm>
          <a:prstGeom prst="rect">
            <a:avLst/>
          </a:prstGeom>
          <a:noFill/>
          <a:ln w="0">
            <a:noFill/>
          </a:ln>
          <a:effectLst>
            <a:outerShdw dist="25417" dir="4463340" blurRad="38160" rotWithShape="0">
              <a:srgbClr val="000000">
                <a:alpha val="36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sto MT"/>
              </a:rPr>
              <a:t>Click icon to add picture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54" name="PlaceHolder 10"/>
          <p:cNvSpPr>
            <a:spLocks noGrp="1"/>
          </p:cNvSpPr>
          <p:nvPr>
            <p:ph type="body"/>
          </p:nvPr>
        </p:nvSpPr>
        <p:spPr>
          <a:xfrm>
            <a:off x="7966440" y="4480200"/>
            <a:ext cx="3300480" cy="13104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55" name="PlaceHolder 11"/>
          <p:cNvSpPr>
            <a:spLocks noGrp="1"/>
          </p:cNvSpPr>
          <p:nvPr>
            <p:ph type="dt" idx="19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12"/>
          <p:cNvSpPr>
            <a:spLocks noGrp="1"/>
          </p:cNvSpPr>
          <p:nvPr>
            <p:ph type="ftr" idx="20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13"/>
          <p:cNvSpPr>
            <a:spLocks noGrp="1"/>
          </p:cNvSpPr>
          <p:nvPr>
            <p:ph type="sldNum" idx="21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384F13-83FD-4B8E-AC18-086E7EBD6235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913680" y="1732320"/>
            <a:ext cx="10353240" cy="40582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 vert="eaVert">
            <a:no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22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23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24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82A184-B9D9-445E-B5F6-AD9227E109F9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983080" y="609480"/>
            <a:ext cx="2284200" cy="5181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 vert="eaVer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913680" y="609480"/>
            <a:ext cx="7916400" cy="5181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 vert="eaVert">
            <a:no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25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ftr" idx="26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27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3648CA-BEE2-4346-BA96-1241A04EFBDA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913680" y="1732320"/>
            <a:ext cx="10353240" cy="40582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dt" idx="28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ftr" idx="29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30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F58AA1-BE70-4750-B80F-38BAC6856EBE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295280" y="1761120"/>
            <a:ext cx="9590040" cy="18284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1295280" y="3589920"/>
            <a:ext cx="9590040" cy="15066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dt" idx="31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ftr" idx="32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33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09BDC3-3588-40AE-974E-E1797273EA54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913680" y="1732320"/>
            <a:ext cx="5060160" cy="40582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6202800" y="1732320"/>
            <a:ext cx="5064480" cy="40582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34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35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6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3A027B-D537-4375-BD5C-AB2D510C91C8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19" descr="Slate-V2-HD-compPhotoInset.png"/>
          <p:cNvPicPr/>
          <p:nvPr/>
        </p:nvPicPr>
        <p:blipFill>
          <a:blip r:embed="rId3"/>
          <a:stretch/>
        </p:blipFill>
        <p:spPr>
          <a:xfrm>
            <a:off x="913680" y="1734480"/>
            <a:ext cx="5088600" cy="414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Picture 20" descr="Slate-V2-HD-compPhotoInset.png"/>
          <p:cNvPicPr/>
          <p:nvPr/>
        </p:nvPicPr>
        <p:blipFill>
          <a:blip r:embed="rId4"/>
          <a:stretch/>
        </p:blipFill>
        <p:spPr>
          <a:xfrm>
            <a:off x="6178320" y="1734480"/>
            <a:ext cx="5088600" cy="41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1005840" y="1835280"/>
            <a:ext cx="4875840" cy="5446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1005840" y="2379960"/>
            <a:ext cx="4875840" cy="34106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2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2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6294960" y="1835280"/>
            <a:ext cx="4894920" cy="5446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6294960" y="2379960"/>
            <a:ext cx="4894920" cy="34106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2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2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dt" idx="37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ftr" idx="38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8"/>
          <p:cNvSpPr>
            <a:spLocks noGrp="1"/>
          </p:cNvSpPr>
          <p:nvPr>
            <p:ph type="sldNum" idx="39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78F07E-7BAB-48D8-BA0D-2E5B6F860275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dt" idx="40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ftr" idx="41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sldNum" idx="42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67C1E0-1C35-4071-B8B9-203A510F58FC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the outline text format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Outline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Outline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Outline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Outline Level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Sixth Outline Level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Seventh Outline Level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dt" idx="43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ftr" idx="44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45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760EAE7-BBDC-4976-8445-1F6BA86F4D69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3706560" cy="18216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855680" y="609480"/>
            <a:ext cx="6411600" cy="51811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720000" lvl="1" indent="-270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8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Second level</a:t>
            </a:r>
            <a:endParaRPr lang="en-US" sz="18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026000" lvl="2" indent="-21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Third level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386000" lvl="3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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Fourth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1674000" lvl="4" indent="-216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1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Fifth level</a:t>
            </a:r>
            <a:endParaRPr lang="en-US" sz="14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913680" y="2431440"/>
            <a:ext cx="3706560" cy="33591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dt" idx="46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ftr" idx="47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6"/>
          <p:cNvSpPr>
            <a:spLocks noGrp="1"/>
          </p:cNvSpPr>
          <p:nvPr>
            <p:ph type="sldNum" idx="48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0953AC-030B-450A-AA7F-1D7D48E8960B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21" descr="Slate-V2-HD-vertPhotoInset.png"/>
          <p:cNvPicPr/>
          <p:nvPr/>
        </p:nvPicPr>
        <p:blipFill>
          <a:blip r:embed="rId3"/>
          <a:stretch/>
        </p:blipFill>
        <p:spPr>
          <a:xfrm>
            <a:off x="7293600" y="609480"/>
            <a:ext cx="3583800" cy="520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913680" y="609840"/>
            <a:ext cx="5934600" cy="18288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7442640" y="763560"/>
            <a:ext cx="3275280" cy="4912560"/>
          </a:xfrm>
          <a:prstGeom prst="rect">
            <a:avLst/>
          </a:prstGeom>
          <a:noFill/>
          <a:ln w="0">
            <a:noFill/>
          </a:ln>
          <a:effectLst>
            <a:outerShdw dist="25417" dir="4463340" blurRad="38160" rotWithShape="0">
              <a:srgbClr val="000000">
                <a:alpha val="36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sto MT"/>
              </a:rPr>
              <a:t>Click icon to add picture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913680" y="2439360"/>
            <a:ext cx="5934600" cy="33757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Click to edit Master text styles</a:t>
            </a:r>
            <a:endParaRPr lang="en-US" sz="16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dt" idx="49"/>
          </p:nvPr>
        </p:nvSpPr>
        <p:spPr>
          <a:xfrm>
            <a:off x="767880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ftr" idx="50"/>
          </p:nvPr>
        </p:nvSpPr>
        <p:spPr>
          <a:xfrm>
            <a:off x="913680" y="5883120"/>
            <a:ext cx="6672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sldNum" idx="51"/>
          </p:nvPr>
        </p:nvSpPr>
        <p:spPr>
          <a:xfrm>
            <a:off x="10514160" y="5883120"/>
            <a:ext cx="753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6BE8A14-C902-4B04-899B-720798F92ACF}" type="slidenum">
              <a:rPr lang="en-US" sz="1000" b="0" u="none" strike="noStrike">
                <a:solidFill>
                  <a:schemeClr val="lt1">
                    <a:lumMod val="95000"/>
                  </a:schemeClr>
                </a:solidFill>
                <a:effectLst/>
                <a:uFillTx/>
                <a:latin typeface="Calisto MT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370520" y="1769400"/>
            <a:ext cx="9439560" cy="182844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b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Testarea unei aplicații Python pentru gestionarea studenților</a:t>
            </a:r>
            <a:endParaRPr lang="en-US" sz="54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ubTitle"/>
          </p:nvPr>
        </p:nvSpPr>
        <p:spPr>
          <a:xfrm>
            <a:off x="3755880" y="3996360"/>
            <a:ext cx="7746840" cy="13881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ln>
                  <a:solidFill>
                    <a:schemeClr val="dk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ffectLst/>
                <a:uFillTx/>
                <a:latin typeface="Calisto MT"/>
              </a:rPr>
              <a:t>Proiect realizat de Ecobescu George-Marius si Petre Mihai-Cristian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Descrierea aplicatiei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13680" y="1732320"/>
            <a:ext cx="10353240" cy="40582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Aplicația este una de tip consolă pentru gestionarea unei evidențe de studenți și note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Operații disponibile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: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afișare listă studenți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adăugare student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ștergere student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adăugare note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generare raport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filtrare după interval de medii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</a:pP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  <p:pic>
        <p:nvPicPr>
          <p:cNvPr id="119" name="Picture 4"/>
          <p:cNvPicPr/>
          <p:nvPr/>
        </p:nvPicPr>
        <p:blipFill>
          <a:blip r:embed="rId1"/>
          <a:stretch/>
        </p:blipFill>
        <p:spPr>
          <a:xfrm>
            <a:off x="5628240" y="3160800"/>
            <a:ext cx="3943440" cy="165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Tehnologii utilizate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913680" y="1732320"/>
            <a:ext cx="10353240" cy="405828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Limbaje și tehnologii</a:t>
            </a: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: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Python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SQLite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Framework-uri și tool-uri de testare: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pytest – framework pentru testare unitară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pytest-cov – masurarea code coverage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mutmut – mutation testing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Avantaje</a:t>
            </a: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: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tool-uri open-source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,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configurare simplă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,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integrare bună cu Python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7080"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ro-RO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Funcții testate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pic>
        <p:nvPicPr>
          <p:cNvPr id="123" name="Picture 3" descr="A screen shot of a computer program&#10;&#10;AI-generated content may be incorrect."/>
          <p:cNvPicPr/>
          <p:nvPr/>
        </p:nvPicPr>
        <p:blipFill>
          <a:blip r:embed="rId1"/>
          <a:stretch/>
        </p:blipFill>
        <p:spPr>
          <a:xfrm>
            <a:off x="432720" y="1580040"/>
            <a:ext cx="6191640" cy="493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Picture 5"/>
          <p:cNvPicPr/>
          <p:nvPr/>
        </p:nvPicPr>
        <p:blipFill>
          <a:blip r:embed="rId2"/>
          <a:stretch/>
        </p:blipFill>
        <p:spPr>
          <a:xfrm>
            <a:off x="4892760" y="2788920"/>
            <a:ext cx="6600600" cy="246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/>
          </p:nvPr>
        </p:nvSpPr>
        <p:spPr>
          <a:xfrm>
            <a:off x="919080" y="167040"/>
            <a:ext cx="10353240" cy="62823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it-IT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Parti</a:t>
            </a: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ț</a:t>
            </a:r>
            <a:r>
              <a:rPr lang="it-IT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ionare </a:t>
            </a: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î</a:t>
            </a:r>
            <a:r>
              <a:rPr lang="it-IT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n clase de echivalen</a:t>
            </a: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ță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7080"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ui.menu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: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clase valide: valorile corespunz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toare op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ț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iunilor existente (0–6)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clas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invalid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: orice alt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valoare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7080"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ui.filter_students: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clas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valid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: intervale corecte (0 ≤ min ≤ m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ax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≤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10)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clase invalide: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</a:t>
            </a: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valori 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î</a:t>
            </a: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n afara intervalului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, </a:t>
            </a: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min &gt; max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  <a:tabLst>
                <a:tab algn="l" pos="0"/>
              </a:tabLst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Analiza valorilor de frontier</a:t>
            </a: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testarea valorilor de la limita domeniului de intrare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verificarea comportamentului imediat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sub limit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ă,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exact la limit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ă,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peste limit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ă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  <a:tabLst>
                <a:tab algn="l" pos="0"/>
              </a:tabLst>
            </a:pPr>
            <a:r>
              <a:rPr lang="it-IT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Scop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identificarea erorilor la intrari invalide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validarea comportamentului corect la limite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  <a:tabLst>
                <a:tab algn="l" pos="0"/>
              </a:tabLst>
            </a:pP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reducerea cazurilor neacoperite din logica aplicatiei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7080"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7080"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/>
          </p:nvPr>
        </p:nvSpPr>
        <p:spPr>
          <a:xfrm>
            <a:off x="919080" y="1238760"/>
            <a:ext cx="10353240" cy="46209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Acoperirea codului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Tipuri de acoperire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Statement coverage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: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toate instrucțiunile sunt executate cel puțin o dată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Decision coverage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: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fiecare ramură a deciziilor este testată (True / False)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Condition coverage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: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fiecare condiție logică este evaluată separat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Scop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acoperirea completă a logicii din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ui.menu </a:t>
            </a:r>
            <a:r>
              <a:rPr lang="ro-RO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și </a:t>
            </a: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ui.filter_students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</a:pP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/>
          </p:nvPr>
        </p:nvSpPr>
        <p:spPr>
          <a:xfrm>
            <a:off x="919080" y="1238760"/>
            <a:ext cx="10353240" cy="462096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t">
            <a:noAutofit/>
          </a:bodyPr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en-US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Testare pe baza de mutantii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 2" charset="2"/>
              <a:buChar char="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Folsim un generator de mutanti (mutmut) pe funciile testate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Testam fiecare mutant cu suita de teste dezvoltata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Observam ce mutanti nu sunt eliminati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Wingdings" charset="2"/>
              <a:buChar char=""/>
            </a:pPr>
            <a:r>
              <a:rPr lang="ro-RO" sz="2000" b="1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Scop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dadada"/>
              </a:buClr>
              <a:buSzPct val="70000"/>
              <a:buFont typeface="Arial"/>
              <a:buChar char="•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Imbunatatirea testelor prin gasirea unor cazuri neacoperite de suita prezenta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</a:pP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913680" y="609480"/>
            <a:ext cx="10353240" cy="97020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Concluzii</a:t>
            </a:r>
            <a:endParaRPr lang="en-US" sz="4000" b="0" u="none" strike="noStrike">
              <a:solidFill>
                <a:schemeClr val="lt1"/>
              </a:solidFill>
              <a:effectLst/>
              <a:uFillTx/>
              <a:latin typeface="Calisto MT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913680" y="1710000"/>
            <a:ext cx="10353240" cy="4102920"/>
          </a:xfrm>
          <a:prstGeom prst="rect">
            <a:avLst/>
          </a:prstGeom>
          <a:noFill/>
          <a:ln w="0">
            <a:noFill/>
          </a:ln>
          <a:effectLst>
            <a:outerShdw dist="0" dir="0" blurRad="25560" rotWithShape="0">
              <a:srgbClr val="000000">
                <a:alpha val="46000"/>
              </a:srgbClr>
            </a:outerShdw>
          </a:effectLst>
        </p:spPr>
        <p:txBody>
          <a:bodyPr numCol="1" spcCol="0" lIns="91440" rIns="91440" tIns="45720" bIns="45720" anchor="ctr">
            <a:spAutoFit/>
          </a:bodyPr>
          <a:p>
            <a:pPr marL="343080" indent="-343080" defTabSz="914400">
              <a:lnSpc>
                <a:spcPct val="150000"/>
              </a:lnSpc>
              <a:buClr>
                <a:srgbClr val="dadada"/>
              </a:buClr>
              <a:buFont typeface="Wingdings" charset="2"/>
              <a:buChar char="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Am aplicat mai multe tehnici de testare unitară pentru a verifica corectitudinea aplicației (echivalență, valori de frontieră, acoperire și mutation testing)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dadada"/>
              </a:buClr>
              <a:buFont typeface="Wingdings" charset="2"/>
              <a:buChar char="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Testele au acoperit atât cazuri normale, cât și cazuri limită și erori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dadada"/>
              </a:buClr>
              <a:buFont typeface="Wingdings" charset="2"/>
              <a:buChar char="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Instrumentele precum pytest, pytest-cov și mutmut au ajutat la automatizarea și evaluarea calității testelor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dadada"/>
              </a:buClr>
              <a:buFont typeface="Wingdings" charset="2"/>
              <a:buChar char="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Acoperirea codului a fost ridicată, asigurând verificarea completă a logicii din ui.menu() și ui.filter_students() 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dadada"/>
              </a:buClr>
              <a:buFont typeface="Wingdings" charset="2"/>
              <a:buChar char=""/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Calisto MT"/>
              </a:rPr>
              <a:t>Per total, proiectul a dus la o mai bună înțelegere a tehnicilor de testare și a importanței acoperirii codului.</a:t>
            </a:r>
            <a:endParaRPr lang="en-US" sz="2000" b="0" u="none" strike="noStrike">
              <a:solidFill>
                <a:schemeClr val="lt2"/>
              </a:solidFill>
              <a:effectLst/>
              <a:uFillTx/>
              <a:latin typeface="Calisto MT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000000"/>
      </a:dk1>
      <a:lt1>
        <a:srgbClr val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 pitchFamily="0" charset="1"/>
        <a:ea typeface=""/>
        <a:cs typeface=""/>
      </a:majorFont>
      <a:minorFont>
        <a:latin typeface="Calisto MT" panose="020406030505050303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587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127</TotalTime>
  <Application>LibreOffice/25.8.6.2$Linux_X86_64 LibreOffice_project/88069fac6043c7b6e761a49b8d5046c99f4d3400</Application>
  <AppVersion>15.0000</AppVersion>
  <Words>361</Words>
  <Paragraphs>48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2026-05-15T18:31:41Z</dcterms:created>
  <dc:creator>GEORGE-MARIUS ECOBESCU</dc:creator>
  <dc:description/>
  <dc:language>en-US</dc:language>
  <cp:lastModifiedBy/>
  <dcterms:modified xsi:type="dcterms:W3CDTF">2026-05-16T16:54:03Z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7</vt:i4>
  </property>
</Properties>
</file>